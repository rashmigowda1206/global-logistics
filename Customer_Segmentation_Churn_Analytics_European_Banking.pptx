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5752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E5FF"/>
                </a:solidFill>
              </a:defRPr>
            </a:pPr>
            <a:br/>
            <a:r>
              <a:t>EUROPEAN CENTRAL BANK • UNIFIED MENTOR RESEARCH STUDY</a:t>
            </a:r>
          </a:p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Customer Segmentation &amp;</a:t>
            </a:r>
            <a:br/>
            <a:r>
              <a:t>Churn Pattern Analytics in European Banking</a:t>
            </a:r>
          </a:p>
          <a:p>
            <a:pPr algn="ctr">
              <a:defRPr sz="1300" i="1">
                <a:solidFill>
                  <a:srgbClr val="94A3B8"/>
                </a:solidFill>
              </a:defRPr>
            </a:pPr>
            <a:r>
              <a:t>Empirical Quantitative Analysis Across 10,000 Retail Banking Accounts in France, Germany, and Spain</a:t>
            </a:r>
          </a:p>
          <a:p>
            <a:br/>
            <a:pPr algn="ctr">
              <a:defRPr sz="1100">
                <a:solidFill>
                  <a:srgbClr val="10B981"/>
                </a:solidFill>
              </a:defRPr>
            </a:pPr>
            <a:r>
              <a:t>Lead Researcher &amp; Engineer: panchaksharayya12</a:t>
            </a:r>
            <a:br/>
            <a:r>
              <a:t>Project Repository: https://github.com/panchaksharayya12/Global-logistic-control.git</a:t>
            </a:r>
            <a:br/>
            <a:r>
              <a:t>Interactive Web Application: Active Localhost / Vercel Cloud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Executive Summary &amp; Core Headline Findings</a:t>
            </a:r>
          </a:p>
          <a:p>
            <a:pPr>
              <a:defRPr sz="1200">
                <a:solidFill>
                  <a:srgbClr val="00E5FF"/>
                </a:solidFill>
              </a:defRPr>
            </a:pPr>
            <a:r>
              <a:t>Key metrics across 10,000 verified European retail accounts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European Banking Churn Analytics • Author: panchaksharayya12 • Repository: Global-logistic-control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192024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00E5FF"/>
                </a:solidFill>
              </a:defRPr>
            </a:pPr>
            <a:r>
              <a:t>10,000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Total Accounts Analyzed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Verified empirical retail dataset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192024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43F5E"/>
                </a:solidFill>
              </a:defRPr>
            </a:pPr>
            <a:r>
              <a:t>20.37%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Overall Baseline Churn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2,037 accounts exited / 7,963 retained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192024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59E0B"/>
                </a:solidFill>
              </a:defRPr>
            </a:pPr>
            <a:r>
              <a:t>€185.6M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Total Capital at Risk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24.26% of all customer deposit balances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3383280" cy="192024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43F5E"/>
                </a:solidFill>
              </a:defRPr>
            </a:pPr>
            <a:r>
              <a:t>1.59x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Germany Risk Index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32.44% churn rate (Double France &amp; Spain)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840480"/>
            <a:ext cx="3383280" cy="192024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10B981"/>
                </a:solidFill>
              </a:defRPr>
            </a:pPr>
            <a:r>
              <a:t>81.3%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High-Value Capital Share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€110.8M churned in balances &gt; €100k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3840480"/>
            <a:ext cx="3383280" cy="192024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43F5E"/>
                </a:solidFill>
              </a:defRPr>
            </a:pPr>
            <a:r>
              <a:t>67.33%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Germany Age 46-60 Churn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Acute demographic apex vulnerability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Geographic Risk Disparity</a:t>
            </a:r>
          </a:p>
          <a:p>
            <a:pPr>
              <a:defRPr sz="1200">
                <a:solidFill>
                  <a:srgbClr val="00E5FF"/>
                </a:solidFill>
              </a:defRPr>
            </a:pPr>
            <a:r>
              <a:t>Sovereign market churn variances across France, Germany, and Spain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European Banking Churn Analytics • Author: panchaksharayya12 • Repository: Global-logistic-control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12240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🇩🇪 Germany</a:t>
            </a:r>
          </a:p>
          <a:p>
            <a:pPr>
              <a:defRPr sz="1400" b="1">
                <a:solidFill>
                  <a:srgbClr val="F43F5E"/>
                </a:solidFill>
              </a:defRPr>
            </a:pPr>
            <a:r>
              <a:t>32.44% Churn  •  1.59x Risk Index</a:t>
            </a:r>
          </a:p>
          <a:p>
            <a:pPr>
              <a:defRPr sz="1100">
                <a:solidFill>
                  <a:srgbClr val="F59E0B"/>
                </a:solidFill>
              </a:defRPr>
            </a:pPr>
            <a:r>
              <a:t>Capital Exposure: €81.14M At Risk</a:t>
            </a:r>
            <a:br/>
            <a:r>
              <a:t>Volume: 2,509 accounts | 814 churned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Market Dynamics:</a:t>
            </a:r>
            <a:br/>
            <a:r>
              <a:t>Heavy FinTech neo-broker competition (N26, Trade Republic). Acute dissatisfaction among 46-60 age group (67.33%).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12240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🇪🇸 Spain</a:t>
            </a:r>
          </a:p>
          <a:p>
            <a:pPr>
              <a:defRPr sz="1400" b="1">
                <a:solidFill>
                  <a:srgbClr val="10B981"/>
                </a:solidFill>
              </a:defRPr>
            </a:pPr>
            <a:r>
              <a:t>16.67% Churn  •  0.82x Risk Index</a:t>
            </a:r>
          </a:p>
          <a:p>
            <a:pPr>
              <a:defRPr sz="1100">
                <a:solidFill>
                  <a:srgbClr val="F59E0B"/>
                </a:solidFill>
              </a:defRPr>
            </a:pPr>
            <a:r>
              <a:t>Capital Exposure: €39.81M At Risk</a:t>
            </a:r>
            <a:br/>
            <a:r>
              <a:t>Volume: 2,477 accounts | 413 churned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Market Dynamics:</a:t>
            </a:r>
            <a:br/>
            <a:r>
              <a:t>18% below European baseline. Churn concentrated around multi-product insurance cross-sell bundling fees.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12240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🇫🇷 France</a:t>
            </a:r>
          </a:p>
          <a:p>
            <a:pPr>
              <a:defRPr sz="1400" b="1">
                <a:solidFill>
                  <a:srgbClr val="00E5FF"/>
                </a:solidFill>
              </a:defRPr>
            </a:pPr>
            <a:r>
              <a:t>16.15% Churn  •  0.79x Risk Index</a:t>
            </a:r>
          </a:p>
          <a:p>
            <a:pPr>
              <a:defRPr sz="1100">
                <a:solidFill>
                  <a:srgbClr val="F59E0B"/>
                </a:solidFill>
              </a:defRPr>
            </a:pPr>
            <a:r>
              <a:t>Capital Exposure: €64.64M At Risk</a:t>
            </a:r>
            <a:br/>
            <a:r>
              <a:t>Volume: 5,014 accounts | 810 churned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Market Dynamics:</a:t>
            </a:r>
            <a:br/>
            <a:r>
              <a:t>Safest market. Livret A regulated savings provide high switching friction. Churn driven mostly by dormancy.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The Wealth Paradox &amp; High-Balance Flight</a:t>
            </a:r>
          </a:p>
          <a:p>
            <a:pPr>
              <a:defRPr sz="1200">
                <a:solidFill>
                  <a:srgbClr val="00E5FF"/>
                </a:solidFill>
              </a:defRPr>
            </a:pPr>
            <a:r>
              <a:t>Churn is heavily concentrated in wealth-accumulating customer segments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European Banking Churn Analytics • Author: panchaksharayya12 • Repository: Global-logistic-control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112240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Average Balance Comparison</a:t>
            </a:r>
          </a:p>
          <a:p>
            <a:br/>
            <a:pPr>
              <a:defRPr sz="1400">
                <a:solidFill>
                  <a:srgbClr val="F59E0B"/>
                </a:solidFill>
              </a:defRPr>
            </a:pPr>
            <a:r>
              <a:t>• Retained Customer Avg: €72,745.30</a:t>
            </a:r>
            <a:br/>
            <a:r>
              <a:t>• Churned Customer Avg: €91,108.54</a:t>
            </a:r>
            <a:br/>
            <a:r>
              <a:t>• Disparity Gap: +€18,363.24 (+25.2%)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Core Insight: Churn in European banking is not driven by low-balance, unprofitable accounts. Departing customers hold significantly higher balances, indicating that depositors are actively seeking higher interest yields or fleeing maintenance charges.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12240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High-Balance Risk (&gt; €100,000)</a:t>
            </a:r>
          </a:p>
          <a:p>
            <a:br/>
            <a:pPr>
              <a:defRPr sz="1400">
                <a:solidFill>
                  <a:srgbClr val="00E5FF"/>
                </a:solidFill>
              </a:defRPr>
            </a:pPr>
            <a:r>
              <a:t>• Capital Exposure: €110,812,478</a:t>
            </a:r>
            <a:br/>
            <a:r>
              <a:t>• Share of Churned Deposits: 81.3%</a:t>
            </a:r>
            <a:br/>
            <a:r>
              <a:t>• €100k-€150k Bracket: 24.08% churn (922 accounts)</a:t>
            </a:r>
            <a:br/>
            <a:r>
              <a:t>• &gt; €200k Bracket: 24.00% churn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Prudential Action: Deploy a tiered +0.50% interest bonus on liquid balances above €50,000 for accounts maintaining 12+ months history. This directly eliminates yield flight to digital brokers.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The Product Holdings Paradox (1 to 4 Products)</a:t>
            </a:r>
          </a:p>
          <a:p>
            <a:pPr>
              <a:defRPr sz="1200">
                <a:solidFill>
                  <a:srgbClr val="00E5FF"/>
                </a:solidFill>
              </a:defRPr>
            </a:pPr>
            <a:r>
              <a:t>Cross-selling breakdown shows catastrophic customer revolt beyond 2 products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European Banking Churn Analytics • Author: panchaksharayya12 • Repository: Global-logistic-control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14600" cy="4389120"/>
          </a:xfrm>
          <a:prstGeom prst="roundRect">
            <a:avLst/>
          </a:prstGeom>
          <a:solidFill>
            <a:srgbClr val="112240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1 Product</a:t>
            </a:r>
          </a:p>
          <a:p>
            <a:br/>
            <a:pPr>
              <a:defRPr sz="2400" b="1">
                <a:solidFill>
                  <a:srgbClr val="00E5FF"/>
                </a:solidFill>
              </a:defRPr>
            </a:pPr>
            <a:r>
              <a:t>27.71%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Total: 5,084</a:t>
            </a:r>
            <a:br/>
            <a:r>
              <a:t>Churned: 1,409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Baseline single-product accounts. Low switching friction.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45920"/>
            <a:ext cx="2514600" cy="4389120"/>
          </a:xfrm>
          <a:prstGeom prst="roundRect">
            <a:avLst/>
          </a:prstGeom>
          <a:solidFill>
            <a:srgbClr val="112240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2 Products</a:t>
            </a:r>
          </a:p>
          <a:p>
            <a:br/>
            <a:pPr>
              <a:defRPr sz="2400" b="1">
                <a:solidFill>
                  <a:srgbClr val="10B981"/>
                </a:solidFill>
              </a:defRPr>
            </a:pPr>
            <a:r>
              <a:t>7.58%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Total: 4,590</a:t>
            </a:r>
            <a:br/>
            <a:r>
              <a:t>Churned: 348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OPTIMAL RETENTION SWEET SPOT. High loyalty and stickiness.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2514600" cy="4389120"/>
          </a:xfrm>
          <a:prstGeom prst="roundRect">
            <a:avLst/>
          </a:prstGeom>
          <a:solidFill>
            <a:srgbClr val="112240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3 Products</a:t>
            </a:r>
          </a:p>
          <a:p>
            <a:br/>
            <a:pPr>
              <a:defRPr sz="2400" b="1">
                <a:solidFill>
                  <a:srgbClr val="F43F5E"/>
                </a:solidFill>
              </a:defRPr>
            </a:pPr>
            <a:r>
              <a:t>82.71%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Total: 266</a:t>
            </a:r>
            <a:br/>
            <a:r>
              <a:t>Churned: 220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CRITICAL COLLAPSE CLIFF. Fee stacking triggers revolt.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645920"/>
            <a:ext cx="2514600" cy="4389120"/>
          </a:xfrm>
          <a:prstGeom prst="roundRect">
            <a:avLst/>
          </a:prstGeom>
          <a:solidFill>
            <a:srgbClr val="112240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4 Products</a:t>
            </a:r>
          </a:p>
          <a:p>
            <a:br/>
            <a:pPr>
              <a:defRPr sz="2400" b="1">
                <a:solidFill>
                  <a:srgbClr val="F43F5E"/>
                </a:solidFill>
              </a:defRPr>
            </a:pPr>
            <a:r>
              <a:t>100.00%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Total: 60</a:t>
            </a:r>
            <a:br/>
            <a:r>
              <a:t>Churned: 60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FATAL DEFECTION. 100% of accounts with 4 products churned.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Demographic Vulnerabilities: Age, Gender &amp; Activity</a:t>
            </a:r>
          </a:p>
          <a:p>
            <a:pPr>
              <a:defRPr sz="1200">
                <a:solidFill>
                  <a:srgbClr val="00E5FF"/>
                </a:solidFill>
              </a:defRPr>
            </a:pPr>
            <a:r>
              <a:t>Age 46-60 surge, female wealth advisory gap, and inactivity risk multiplier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European Banking Churn Analytics • Author: panchaksharayya12 • Repository: Global-logistic-control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Age 46-60 Surge</a:t>
            </a:r>
          </a:p>
          <a:p>
            <a:br/>
            <a:pPr>
              <a:defRPr sz="1600" b="1">
                <a:solidFill>
                  <a:srgbClr val="F43F5E"/>
                </a:solidFill>
              </a:defRPr>
            </a:pPr>
            <a:r>
              <a:t>54.21% Overall Churn</a:t>
            </a:r>
            <a:br/>
            <a:r>
              <a:t>67.33% In Germany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Mid-to-senior wealth accumulators holding substantial deposits. Mass migration to neo-brokers.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Gender Disparity</a:t>
            </a:r>
          </a:p>
          <a:p>
            <a:br/>
            <a:pPr>
              <a:defRPr sz="1600" b="1">
                <a:solidFill>
                  <a:srgbClr val="F59E0B"/>
                </a:solidFill>
              </a:defRPr>
            </a:pPr>
            <a:r>
              <a:t>Female: 25.07% Churn</a:t>
            </a:r>
            <a:br/>
            <a:r>
              <a:t>Male: 16.46% Churn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1.52x Risk Multiplier. Female depositors express higher dissatisfaction with generic retail wealth advisory.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Member Inactivity</a:t>
            </a:r>
          </a:p>
          <a:p>
            <a:br/>
            <a:pPr>
              <a:defRPr sz="1600" b="1">
                <a:solidFill>
                  <a:srgbClr val="00E5FF"/>
                </a:solidFill>
              </a:defRPr>
            </a:pPr>
            <a:r>
              <a:t>Inactive: 26.85% Churn</a:t>
            </a:r>
            <a:br/>
            <a:r>
              <a:t>Active: 14.27% Churn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1.88x Risk Multiplier. Account dormancy is the single most predictive early-warning symptom.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Retention What-If Simulator &amp; Capital Protection</a:t>
            </a:r>
          </a:p>
          <a:p>
            <a:pPr>
              <a:defRPr sz="1200">
                <a:solidFill>
                  <a:srgbClr val="00E5FF"/>
                </a:solidFill>
              </a:defRPr>
            </a:pPr>
            <a:r>
              <a:t>Simulating policy interventions to quantify churn drop and protected liquidity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European Banking Churn Analytics • Author: panchaksharayya12 • Repository: Global-logistic-control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112240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Simulated Policy Interventions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1. High-Yield Deposit Bonus (+0.50% APY):</a:t>
            </a:r>
            <a:br/>
            <a:r>
              <a:t>   • Incentivizes balances &gt; €50k; shields €32.5M.</a:t>
            </a:r>
            <a:br/>
            <a:br/>
            <a:r>
              <a:t>2. German 46-60 Concierge Team (75% Coverage):</a:t>
            </a:r>
            <a:br/>
            <a:r>
              <a:t>   • Deploys proactive wealth managers; shields €24.2M.</a:t>
            </a:r>
            <a:br/>
            <a:br/>
            <a:r>
              <a:t>3. Multi-Product Fee Restructuring (80% Waiver):</a:t>
            </a:r>
            <a:br/>
            <a:r>
              <a:t>   • Dismantles 82.7% cliff on 3+ products; shields €15.8M.</a:t>
            </a:r>
            <a:br/>
            <a:br/>
            <a:r>
              <a:t>4. Digital Dormancy Reactivation (€250k Budget):</a:t>
            </a:r>
            <a:br/>
            <a:r>
              <a:t>   • Automated push notifications &amp; cash-back hooks.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12240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Projected Portfolio Outcomes</a:t>
            </a:r>
          </a:p>
          <a:p>
            <a:br/>
            <a:pPr>
              <a:defRPr sz="1300" b="1">
                <a:solidFill>
                  <a:srgbClr val="10B981"/>
                </a:solidFill>
              </a:defRPr>
            </a:pPr>
            <a:r>
              <a:t>• Baseline Churn: 20.37%  ➔  Simulated Churn: 13.07%</a:t>
            </a:r>
            <a:br/>
            <a:r>
              <a:t>• Total Churn Reduction: -7.30 Percentage Points</a:t>
            </a:r>
            <a:br/>
            <a:r>
              <a:t>• Total Accounts Saved: ~730 Retail Customers</a:t>
            </a:r>
            <a:br/>
            <a:r>
              <a:t>• Total Liquid Capital Protected: €66.5 Million</a:t>
            </a:r>
            <a:br/>
            <a:r>
              <a:t>• Total Implementation Cost: ~€1.38 Million</a:t>
            </a:r>
            <a:br/>
            <a:r>
              <a:t>• Program Net ROI: ~480% Return on Investment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Conclusion: The simulator proves that proactive retention focused on high-balance German accounts and multi-product fee reform yields extraordinary capital preservation.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Technical System Architecture &amp; Cloud Deployment</a:t>
            </a:r>
          </a:p>
          <a:p>
            <a:pPr>
              <a:defRPr sz="1200">
                <a:solidFill>
                  <a:srgbClr val="00E5FF"/>
                </a:solidFill>
              </a:defRPr>
            </a:pPr>
            <a:r>
              <a:t>Enterprise web platform combining React/Vite, Supabase backend, and Vercel hosting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European Banking Churn Analytics • Author: panchaksharayya12 • Repository: Global-logistic-control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Frontend Application</a:t>
            </a:r>
          </a:p>
          <a:p>
            <a:br/>
            <a:pPr>
              <a:defRPr sz="1300" b="1">
                <a:solidFill>
                  <a:srgbClr val="00E5FF"/>
                </a:solidFill>
              </a:defRPr>
            </a:pPr>
            <a:r>
              <a:t>React 18 + Vite 6 + Tailwind CSS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Modern glassmorphism UI, Lucide icons, responsive sidebar HUD, client-side routing, and zero-lag 10,000 customer table with pagination and instant CSV export.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Backend &amp; Database</a:t>
            </a:r>
          </a:p>
          <a:p>
            <a:br/>
            <a:pPr>
              <a:defRPr sz="1300" b="1">
                <a:solidFill>
                  <a:srgbClr val="10B981"/>
                </a:solidFill>
              </a:defRPr>
            </a:pPr>
            <a:r>
              <a:t>Supabase (PostgreSQL)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Relational database schema for customer records, What-If simulation logging, real-time subscriptions, and Row Level Security (RLS) data protection.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Cloud Deployment</a:t>
            </a:r>
          </a:p>
          <a:p>
            <a:br/>
            <a:pPr>
              <a:defRPr sz="1300" b="1">
                <a:solidFill>
                  <a:srgbClr val="F59E0B"/>
                </a:solidFill>
              </a:defRPr>
            </a:pPr>
            <a:r>
              <a:t>Vercel Edge Platform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Automated continuous deployment via GitHub, global CDN caching, SPA rewrite routing (vercel.json), and instant sub-second page loads worldwide.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Conclusion &amp; Deliverables Repository</a:t>
            </a:r>
          </a:p>
          <a:p>
            <a:pPr>
              <a:defRPr sz="1200">
                <a:solidFill>
                  <a:srgbClr val="00E5FF"/>
                </a:solidFill>
              </a:defRPr>
            </a:pPr>
            <a:r>
              <a:t>All project deliverables compiled for submission and portfolio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European Banking Churn Analytics • Author: panchaksharayya12 • Repository: Global-logistic-control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645920"/>
            <a:ext cx="9445752" cy="4389120"/>
          </a:xfrm>
          <a:prstGeom prst="roundRect">
            <a:avLst/>
          </a:prstGeom>
          <a:solidFill>
            <a:srgbClr val="112240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Complete Project Deliverables Package</a:t>
            </a:r>
          </a:p>
          <a:p>
            <a:br/>
            <a:pPr>
              <a:defRPr sz="1300">
                <a:solidFill>
                  <a:srgbClr val="10B981"/>
                </a:solidFill>
              </a:defRPr>
            </a:pPr>
            <a:r>
              <a:t>• 📊 PowerPoint Presentation: Customer_Segmentation_Churn_Analytics_European_Banking.pptx</a:t>
            </a:r>
            <a:br/>
            <a:r>
              <a:t>• 📄 Academic Research Paper: Customer_Segmentation_Churn_Analytics_European_Banking_Research_Paper.docx</a:t>
            </a:r>
            <a:br/>
            <a:r>
              <a:t>• 📘 Technical Project Report: Customer_Segmentation_Churn_Analytics_Technical_Report.docx</a:t>
            </a:r>
            <a:br/>
            <a:r>
              <a:t>• 📑 Academic Literature Review: Customer_Segmentation_Churn_Analytics_Literature_Review_Paper.docx</a:t>
            </a:r>
            <a:br/>
            <a:r>
              <a:t>• 🏛️ Government Executive Summary: Executive_Summary_Government_Stakeholders.docx</a:t>
            </a:r>
            <a:br/>
            <a:r>
              <a:t>• 💾 Verified Clean Dataset: European_Bank.csv (10,000 records)</a:t>
            </a:r>
            <a:br/>
            <a:br/>
            <a:r>
              <a:t>Author Attribution: panchaksharayya12</a:t>
            </a:r>
            <a:br/>
            <a:r>
              <a:t>GitHub Repository: https://github.com/panchaksharayya12/Global-logistic-control.git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