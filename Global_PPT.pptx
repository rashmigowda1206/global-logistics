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572000"/>
          </a:xfrm>
          <a:prstGeom prst="roundRect">
            <a:avLst/>
          </a:prstGeom>
          <a:solidFill>
            <a:srgbClr val="0B132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br/>
            <a:r>
              <a:t>ENTERPRISE SUPPLY CHAIN COMMAND CENTER</a:t>
            </a:r>
          </a:p>
          <a:p>
            <a:pPr algn="ctr">
              <a:defRPr sz="3000" b="1">
                <a:solidFill>
                  <a:srgbClr val="F8FAFC"/>
                </a:solidFill>
              </a:defRPr>
            </a:pPr>
            <a:r>
              <a:t>TRANSITIQ — Global Logistics Control Tower</a:t>
            </a:r>
          </a:p>
          <a:p>
            <a:pPr algn="ctr">
              <a:defRPr sz="1300" i="1">
                <a:solidFill>
                  <a:srgbClr val="94A3B8"/>
                </a:solidFill>
              </a:defRPr>
            </a:pPr>
            <a:r>
              <a:t>Delivery Performance, Delay Risk, and Logistics Efficiency Analysis in Global Supply Chain Operations</a:t>
            </a:r>
          </a:p>
          <a:p>
            <a:br/>
            <a:pPr algn="ctr">
              <a:defRPr sz="1100">
                <a:solidFill>
                  <a:srgbClr val="10B981"/>
                </a:solidFill>
              </a:defRPr>
            </a:pPr>
            <a:r>
              <a:t>Lead System Architect &amp; Engineer: panchaksharayya12</a:t>
            </a:r>
            <a:br/>
            <a:r>
              <a:t>Project Repository: https://github.com/panchaksharayya12/Global-logistic-control.git</a:t>
            </a:r>
            <a:br/>
            <a:r>
              <a:t>Architecture: React 18 • Vite 6 • Tailwind CSS • Supabase • Vercel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Executive Summary &amp; Core Operational Telemetry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Real-time command center telemetry monitoring 128 maritime, air, and overland freight hubs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TRANSITIQ Global Logistics Control Tower • Author: panchaksharayya12 • GitHub: Global-logistic-control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192024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6B6D4"/>
                </a:solidFill>
              </a:defRPr>
            </a:pPr>
            <a:r>
              <a:t>128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Active Global Terminals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Asia-Pacific, Europe, Americas, Middle East hubs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192024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10B981"/>
                </a:solidFill>
              </a:defRPr>
            </a:pPr>
            <a:r>
              <a:t>84.7%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On-Time Delivery SLA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Multi-modal aggregate delivery performance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192024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43F5E"/>
                </a:solidFill>
              </a:defRPr>
            </a:pPr>
            <a:r>
              <a:t>15.3%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Delayed Shipment Rate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Chokepoint congestion and customs hold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383280" cy="192024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59E0B"/>
                </a:solidFill>
              </a:defRPr>
            </a:pPr>
            <a:r>
              <a:t>38.5 hrs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Average Delay Severity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Critical corridor monsoon and berth wait delays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840480"/>
            <a:ext cx="3383280" cy="192024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F43F5E"/>
                </a:solidFill>
              </a:defRPr>
            </a:pPr>
            <a:r>
              <a:t>€48.2M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At-Risk Cargo Value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High-value cargo actively monitored in transit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840480"/>
            <a:ext cx="3383280" cy="192024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6B6D4"/>
                </a:solidFill>
              </a:defRPr>
            </a:pPr>
            <a:r>
              <a:t>8 Corridors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Strategic Freight Corridors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Suez, Malacca, Transpacific, Transatlantic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Multimodal Transportation Performance &amp; SLA Variance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Comparative reliability, transit speed, and cost efficiency across primary shipping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TRANSITIQ Global Logistics Control Tower • Author: panchaksharayya12 • GitHub: Global-logistic-control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0B132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Ocean Freight (Sea)</a:t>
            </a:r>
          </a:p>
          <a:p>
            <a:br/>
            <a:pPr>
              <a:defRPr sz="2200" b="1">
                <a:solidFill>
                  <a:srgbClr val="F59E0B"/>
                </a:solidFill>
              </a:defRPr>
            </a:pPr>
            <a:r>
              <a:t>18.2% Delayed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Severity: 62 hrs Avg Delay</a:t>
            </a:r>
            <a:br/>
            <a:r>
              <a:t>Unit Cost: $0.08 / ton-km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High carbon efficiency, vulnerable to canal bottlenecks (Suez, Panama) and port container yard dwell times.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0B132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Air Cargo (Express)</a:t>
            </a:r>
          </a:p>
          <a:p>
            <a:br/>
            <a:pPr>
              <a:defRPr sz="2200" b="1">
                <a:solidFill>
                  <a:srgbClr val="10B981"/>
                </a:solidFill>
              </a:defRPr>
            </a:pPr>
            <a:r>
              <a:t>6.4% Delayed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Severity: 8.5 hrs Avg Delay</a:t>
            </a:r>
            <a:br/>
            <a:r>
              <a:t>Unit Cost: $1.45 / ton-km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Highest SLA compliance (93.6%). Premium cost. Used as fast-track mitigation for breached production orders.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0B13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Road Freight (Truck)</a:t>
            </a:r>
          </a:p>
          <a:p>
            <a:br/>
            <a:pPr>
              <a:defRPr sz="2200" b="1">
                <a:solidFill>
                  <a:srgbClr val="06B6D4"/>
                </a:solidFill>
              </a:defRPr>
            </a:pPr>
            <a:r>
              <a:t>12.8% Delayed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Severity: 14.2 hrs Avg Delay</a:t>
            </a:r>
            <a:br/>
            <a:r>
              <a:t>Unit Cost: $0.32 / ton-km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Flexible regional feeder connectivity. Vulnerable to border customs inspections and highway infrastructure chokepoints.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0B132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8FAFC"/>
                </a:solidFill>
              </a:defRPr>
            </a:pPr>
            <a:r>
              <a:t>Rail Intermodal</a:t>
            </a:r>
          </a:p>
          <a:p>
            <a:br/>
            <a:pPr>
              <a:defRPr sz="2200" b="1">
                <a:solidFill>
                  <a:srgbClr val="06B6D4"/>
                </a:solidFill>
              </a:defRPr>
            </a:pPr>
            <a:r>
              <a:t>9.1% Delayed</a:t>
            </a:r>
          </a:p>
          <a:p>
            <a:pPr>
              <a:defRPr sz="1100">
                <a:solidFill>
                  <a:srgbClr val="F59E0B"/>
                </a:solidFill>
              </a:defRPr>
            </a:pPr>
            <a:r>
              <a:t>Severity: 22.0 hrs Avg Delay</a:t>
            </a:r>
            <a:br/>
            <a:r>
              <a:t>Unit Cost: $0.14 / ton-km</a:t>
            </a:r>
          </a:p>
          <a:p>
            <a:br/>
            <a:pPr>
              <a:defRPr sz="1000">
                <a:solidFill>
                  <a:srgbClr val="94A3B8"/>
                </a:solidFill>
              </a:defRPr>
            </a:pPr>
            <a:r>
              <a:t>Eurasian land-bridge &amp; domestic bulk corridors. Strong balance between maritime cost and air freight speed.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Critical Chokepoint &amp; Port Congestion Diagnostics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Berth queue dwell times and maritime bottleneck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TRANSITIQ Global Logistics Control Tower • Author: panchaksharayya12 • GitHub: Global-logistic-control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B132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Primary Bottleneck Hotspots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Singapore PSA Gateway:</a:t>
            </a:r>
            <a:br/>
            <a:r>
              <a:t>  - Berth wait time: 3.8 days (Monsoon + transshipment surges)</a:t>
            </a:r>
            <a:br/>
            <a:r>
              <a:t>  - Impacted vessels: 42 container vessels queued</a:t>
            </a:r>
            <a:br/>
            <a:br/>
            <a:r>
              <a:t>• Rotterdam Gateway / Maasvlakte:</a:t>
            </a:r>
            <a:br/>
            <a:r>
              <a:t>  - Berth wait time: 4.2 days (Inland barge strikes + customs audit)</a:t>
            </a:r>
            <a:br/>
            <a:r>
              <a:t>  - Impacted cargo: €18.4M European automotive &amp; electronics</a:t>
            </a:r>
            <a:br/>
            <a:br/>
            <a:r>
              <a:t>• Malacca Strait &amp; Bab-el-Mandeb:</a:t>
            </a:r>
            <a:br/>
            <a:r>
              <a:t>  - Maritime rerouting penalty: +10 to +14 sailing days around Cape of Good Hope</a:t>
            </a:r>
            <a:br/>
            <a:r>
              <a:t>  - Bunker fuel consumption surge: +35%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32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Predictive Delay Root Causes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1. Carrier Blank Sailings:</a:t>
            </a:r>
            <a:br/>
            <a:r>
              <a:t>   - Ocean carriers cancelling 18% of scheduled sailings to balance capacity, causing cargo roll-overs at origin ports.</a:t>
            </a:r>
            <a:br/>
            <a:br/>
            <a:r>
              <a:t>2. Customs &amp; Compliance Hold Points:</a:t>
            </a:r>
            <a:br/>
            <a:r>
              <a:t>   - Cross-border documentation discrepancies causing average 48-hour dwell times at border checkpoints.</a:t>
            </a:r>
            <a:br/>
            <a:br/>
            <a:r>
              <a:t>3. Intermodal Handoff Friction:</a:t>
            </a:r>
            <a:br/>
            <a:r>
              <a:t>   - Dwell delays between port container cranes and domestic rail heads resulting in missed feeder trains.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What-If Scenario Simulator &amp; Closed-Loop Action Center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Dynamic simulation of modal shifts, buffer stock allocation, and automated task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TRANSITIQ Global Logistics Control Tower • Author: panchaksharayya12 • GitHub: Global-logistic-control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0B132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What-If Simulation Engine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Modal Rerouting Simulation:</a:t>
            </a:r>
            <a:br/>
            <a:r>
              <a:t>  - Shifting high-priority Tier-1 shipments from Ocean to Air Freight reduces critical lead time by 14 days with +$1.15/kg cost differential.</a:t>
            </a:r>
            <a:br/>
            <a:br/>
            <a:r>
              <a:t>• Cape of Good Hope Bypass vs. Suez Wait:</a:t>
            </a:r>
            <a:br/>
            <a:r>
              <a:t>  - Model predicts transit reliability index improves from 58% to 91% when choosing Cape reroute despite +10 sailing days.</a:t>
            </a:r>
            <a:br/>
            <a:br/>
            <a:r>
              <a:t>• Port Congestion Buffer Stocks:</a:t>
            </a:r>
            <a:br/>
            <a:r>
              <a:t>  - Increasing regional distribution center safety stock by 5 days prevents stockouts during 4-day port container yard congestion.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0B132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Operational Action Center</a:t>
            </a:r>
          </a:p>
          <a:p>
            <a:br/>
            <a:pPr>
              <a:defRPr sz="1150">
                <a:solidFill>
                  <a:srgbClr val="94A3B8"/>
                </a:solidFill>
              </a:defRPr>
            </a:pPr>
            <a:r>
              <a:t>• Closed-Loop Incident Management:</a:t>
            </a:r>
            <a:br/>
            <a:r>
              <a:t>  - Kanban board (Critical, In Progress, Resolved) for automated mitigation task tracking.</a:t>
            </a:r>
            <a:br/>
            <a:br/>
            <a:r>
              <a:t>• Carrier SLA Penalty Enforcement:</a:t>
            </a:r>
            <a:br/>
            <a:r>
              <a:t>  - Automated detection of breached carrier contractual transit windows with automated deduction claims.</a:t>
            </a:r>
            <a:br/>
            <a:br/>
            <a:r>
              <a:t>• Proactive Customer Notification:</a:t>
            </a:r>
            <a:br/>
            <a:r>
              <a:t>  - Dynamic notification triggers alerting downstream supply chain managers 72 hours before production impact.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Technical System Architecture &amp; Cloud Infrastructure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Production-grade enterprise platform with React 18, Supabase PostgreSQL, and Vercel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TRANSITIQ Global Logistics Control Tower • Author: panchaksharayya12 • GitHub: Global-logistic-control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Control Tower Frontend</a:t>
            </a:r>
          </a:p>
          <a:p>
            <a:br/>
            <a:pPr>
              <a:defRPr sz="1300" b="1">
                <a:solidFill>
                  <a:srgbClr val="06B6D4"/>
                </a:solidFill>
              </a:defRPr>
            </a:pPr>
            <a:r>
              <a:t>React 18 + Vite 6 + Tailwind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High-performance operational HUD, Esri ArcGIS dark map canvas, Recharts telemetry curves, Lucide icons, responsive navigation, and TransitAI Copilot.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Relational Telemetry Hub</a:t>
            </a:r>
          </a:p>
          <a:p>
            <a:br/>
            <a:pPr>
              <a:defRPr sz="1300" b="1">
                <a:solidFill>
                  <a:srgbClr val="10B981"/>
                </a:solidFill>
              </a:defRPr>
            </a:pPr>
            <a:r>
              <a:t>Supabase (PostgreSQL)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Relational database schema for shipment telemetry, carrier master tables, simulation logs, and Row Level Security (RLS) policies.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0B132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Cloud Edge Hosting</a:t>
            </a:r>
          </a:p>
          <a:p>
            <a:br/>
            <a:pPr>
              <a:defRPr sz="1300" b="1">
                <a:solidFill>
                  <a:srgbClr val="F59E0B"/>
                </a:solidFill>
              </a:defRPr>
            </a:pPr>
            <a:r>
              <a:t>Vercel Edge Platform</a:t>
            </a:r>
          </a:p>
          <a:p>
            <a:br/>
            <a:pPr>
              <a:defRPr sz="1100">
                <a:solidFill>
                  <a:srgbClr val="94A3B8"/>
                </a:solidFill>
              </a:defRPr>
            </a:pPr>
            <a:r>
              <a:t>Continuous deployment from GitHub (Global-logistic-control), SPA routing rewrites (vercel.json), global edge caching, and sub-second latency.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7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Deliverables &amp; Project Attribution</a:t>
            </a:r>
          </a:p>
          <a:p>
            <a:pPr>
              <a:defRPr sz="1200">
                <a:solidFill>
                  <a:srgbClr val="06B6D4"/>
                </a:solidFill>
              </a:defRPr>
            </a:pPr>
            <a:r>
              <a:t>All documents and presentations stored in dedicated Global Logistics directory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TRANSITIQ Global Logistics Control Tower • Author: panchaksharayya12 • GitHub: Global-logistic-control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445752" cy="4389120"/>
          </a:xfrm>
          <a:prstGeom prst="roundRect">
            <a:avLst/>
          </a:prstGeom>
          <a:solidFill>
            <a:srgbClr val="0B132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8FAFC"/>
                </a:solidFill>
              </a:defRPr>
            </a:pPr>
            <a:r>
              <a:t>Complete Project Deliverables Package</a:t>
            </a:r>
          </a:p>
          <a:p>
            <a:br/>
            <a:pPr>
              <a:defRPr sz="1300">
                <a:solidFill>
                  <a:srgbClr val="10B981"/>
                </a:solidFill>
              </a:defRPr>
            </a:pPr>
            <a:r>
              <a:t>• 📊 PowerPoint Presentation: Global_Logistics_Control_Tower_Presentation.pptx</a:t>
            </a:r>
            <a:br/>
            <a:r>
              <a:t>• 📘 Technical Project Report: Global_Logistics_Control_Tower_Project_Report.docx &amp; .pdf</a:t>
            </a:r>
            <a:br/>
            <a:r>
              <a:t>• 📄 Academic Research Paper: Global_Logistics_Control_Tower_Research_Paper.docx &amp; .pdf</a:t>
            </a:r>
            <a:br/>
            <a:r>
              <a:t>• 📑 Literature Review Paper: Global_Logistics_Control_Tower_Literature_Review_Paper.docx &amp; .pdf</a:t>
            </a:r>
            <a:br/>
            <a:r>
              <a:t>• 💾 Clean Telemetry Data: Stored in C:\2026 A-Z\Global logistics\data\</a:t>
            </a:r>
            <a:br/>
            <a:br/>
            <a:r>
              <a:t>Author Attribution: panchaksharayya12</a:t>
            </a:r>
            <a:br/>
            <a:r>
              <a:t>GitHub Repository: https://github.com/panchaksharayya12/Global-logistic-control.git</a:t>
            </a:r>
            <a:br/>
            <a:r>
              <a:t>Dedicated Project Directory: C:\2026 A-Z\Global logistics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